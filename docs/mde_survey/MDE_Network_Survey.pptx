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>
                <a:solidFill>
                  <a:srgbClr val="1F4E79"/>
                </a:solidFill>
              </a:rPr>
              <a:t>Monocular Depth Estimation — Network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595959"/>
                </a:solidFill>
              </a:rPr>
              <a:t>CNN · Transformer · Hybrid · Foundation Models · Diffusion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1. MDE 네트워크 공통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800">
                <a:solidFill>
                  <a:srgbClr val="333333"/>
                </a:solidFill>
              </a:rPr>
              <a:t>모든 MDE 네트워크는 Encoder–Decoder–Head 세 블록 조합이다.</a:t>
            </a:r>
          </a:p>
          <a:p>
            <a:pPr lvl="1"/>
            <a:r>
              <a:rPr sz="1600">
                <a:solidFill>
                  <a:srgbClr val="333333"/>
                </a:solidFill>
              </a:rPr>
              <a:t>Encoder : RGB 이미지에서 feature 추출 (CNN / ViT / Swin / ConvNeXt)</a:t>
            </a:r>
          </a:p>
          <a:p>
            <a:pPr lvl="1"/>
            <a:r>
              <a:rPr sz="1600">
                <a:solidFill>
                  <a:srgbClr val="333333"/>
                </a:solidFill>
              </a:rPr>
              <a:t>Decoder : multi-stage feature를 fusion, upsampling (U-Net / DPT / LWA / Bins)</a:t>
            </a:r>
          </a:p>
          <a:p>
            <a:pPr lvl="1"/>
            <a:r>
              <a:rPr sz="1600">
                <a:solidFill>
                  <a:srgbClr val="333333"/>
                </a:solidFill>
              </a:rPr>
              <a:t>Head    : 각 픽셀의 depth 값 출력 (direct regression / adaptive bins / ordinal / planar)</a:t>
            </a:r>
          </a:p>
          <a:p>
            <a:pPr/>
            <a:r>
              <a:rPr sz="1800">
                <a:solidFill>
                  <a:srgbClr val="333333"/>
                </a:solidFill>
              </a:rPr>
              <a:t>각 구성 요소의 선택 = 속도/정확도/일반화 사이의 trade-off</a:t>
            </a:r>
          </a:p>
          <a:p>
            <a:pPr lvl="1"/>
            <a:r>
              <a:rPr sz="1600">
                <a:solidFill>
                  <a:srgbClr val="333333"/>
                </a:solidFill>
              </a:rPr>
              <a:t>Encoder 크기 ↑ → 정확도 ↑ 추론속도 ↓</a:t>
            </a:r>
          </a:p>
          <a:p>
            <a:pPr lvl="1"/>
            <a:r>
              <a:rPr sz="1600">
                <a:solidFill>
                  <a:srgbClr val="333333"/>
                </a:solidFill>
              </a:rPr>
              <a:t>Decoder 복잡도 ↑ → 경계 선명, 세부 디테일 ↑ 메모리 ↑</a:t>
            </a:r>
          </a:p>
          <a:p>
            <a:pPr lvl="1"/>
            <a:r>
              <a:rPr sz="1600">
                <a:solidFill>
                  <a:srgbClr val="333333"/>
                </a:solidFill>
              </a:rPr>
              <a:t>Head 방식 → 분포 표현력 vs 계산량</a:t>
            </a:r>
          </a:p>
          <a:p>
            <a:pPr/>
            <a:r>
              <a:rPr sz="1800">
                <a:solidFill>
                  <a:srgbClr val="333333"/>
                </a:solidFill>
              </a:rPr>
              <a:t> </a:t>
            </a:r>
          </a:p>
          <a:p>
            <a:pPr/>
            <a:r>
              <a:rPr sz="1800">
                <a:solidFill>
                  <a:srgbClr val="333333"/>
                </a:solidFill>
              </a:rPr>
              <a:t>이 문서는 대표 네트워크 13종의 설계 결정과 실측 수치를 정리한다.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2. 평가 지표 (KITTI / NYU 공통)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</a:rPr>
              <a:t>δ₁ / δ₂ / δ₃  (threshold accuracy)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max(pred/gt, gt/pred) &lt; 1.25ⁿ 인 픽셀 비율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높을수록 좋음 (이상적: 1.0)</a:t>
            </a:r>
          </a:p>
          <a:p>
            <a:pPr/>
            <a:r>
              <a:rPr sz="1600">
                <a:solidFill>
                  <a:srgbClr val="333333"/>
                </a:solidFill>
              </a:rPr>
              <a:t> </a:t>
            </a:r>
          </a:p>
          <a:p>
            <a:pPr/>
            <a:r>
              <a:rPr sz="1600">
                <a:solidFill>
                  <a:srgbClr val="333333"/>
                </a:solidFill>
              </a:rPr>
              <a:t>AbsRel (Absolute Relative Error)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mean( |pred - gt| / gt 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낮을수록 좋음</a:t>
            </a:r>
          </a:p>
          <a:p>
            <a:pPr/>
            <a:r>
              <a:rPr sz="1600">
                <a:solidFill>
                  <a:srgbClr val="333333"/>
                </a:solidFill>
              </a:rPr>
              <a:t> </a:t>
            </a:r>
          </a:p>
          <a:p>
            <a:pPr/>
            <a:r>
              <a:rPr sz="1600">
                <a:solidFill>
                  <a:srgbClr val="333333"/>
                </a:solidFill>
              </a:rPr>
              <a:t>RMSE (Root Mean Squared Error)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sqrt( mean((pred - gt)²) 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meter 단위, 낮을수록 좋음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600">
                <a:solidFill>
                  <a:srgbClr val="333333"/>
                </a:solidFill>
              </a:rPr>
              <a:t>KITTI (outdoor, max 80m)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Eigen split 기준 ~43k train / 697 test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자율주행용 벤치마크, LiDAR sparse GT</a:t>
            </a:r>
          </a:p>
          <a:p>
            <a:pPr/>
            <a:r>
              <a:rPr sz="1600">
                <a:solidFill>
                  <a:srgbClr val="333333"/>
                </a:solidFill>
              </a:rPr>
              <a:t> </a:t>
            </a:r>
          </a:p>
          <a:p>
            <a:pPr/>
            <a:r>
              <a:rPr sz="1600">
                <a:solidFill>
                  <a:srgbClr val="333333"/>
                </a:solidFill>
              </a:rPr>
              <a:t>NYU Depth v2 (indoor, max 10m)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~50k train / 654 test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Kinect dense GT, 실내 장면</a:t>
            </a:r>
          </a:p>
          <a:p>
            <a:pPr/>
            <a:r>
              <a:rPr sz="1600">
                <a:solidFill>
                  <a:srgbClr val="333333"/>
                </a:solidFill>
              </a:rPr>
              <a:t> </a:t>
            </a:r>
          </a:p>
          <a:p>
            <a:pPr/>
            <a:r>
              <a:rPr sz="1600">
                <a:solidFill>
                  <a:srgbClr val="333333"/>
                </a:solidFill>
              </a:rPr>
              <a:t>일반화 평가 (unseen domain)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vKITTI2 / ApolloScape / DDAD / DIODE</a:t>
            </a:r>
          </a:p>
          <a:p>
            <a:pPr lvl="1"/>
            <a:r>
              <a:rPr sz="1400">
                <a:solidFill>
                  <a:srgbClr val="333333"/>
                </a:solidFill>
              </a:rPr>
              <a:t>zero-shot 성능 측정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3. 아키텍처 분류: 계보와 흐름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계열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대표 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연도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Encoder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특이점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초기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Eigen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Coarse+Fine CNN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MDE 최초의 CNN 접근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CNN 회귀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FCRN (Laina)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ResNet-50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fully convolutional, 업샘플링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Ordinal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DORN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ResNet-101+ASPP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depth를 이산화 + ordinal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Transfer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DenseDepth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DenseNet-169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pretrained encoder + U-Net decoder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Self-sup.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Monodepth2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ResNet-18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stereo/video 셀프-지도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Hybrid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BTS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DenseNet-161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Local Planar Guidance layer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Bin 분류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AdaBins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EfficientNet-B5 + miniViT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adaptive bin centers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ViT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DPT-Large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ViT-L/16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dense prediction transformer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SegFormer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GLPDepth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MiT-B4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hierarchical transformer + vertical cutdepth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Swin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NeWCRFs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Swin-L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neural window CRF decoder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Foundation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ZoeDepth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BEiT-L + metric bins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relative + metric 결합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Foundation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Depth Anything v2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DINOv2 (ViT-S/B/L)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62M unlabeled + 595k labeled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Diffusion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Marigold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Stable Diffusion 2 UNet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노이즈에서 depth 역추론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Efficient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ConvNeXt + LWA (TIE)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ConvNeXt v2 Tiny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실시간 + 우수한 정확도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4. CNN 계열: ResNet · DenseNet · EfficientNet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333333"/>
                </a:solidFill>
              </a:rPr>
              <a:t>ResNet (He et al., 2015)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skip connection으로 깊은 네트워크 학습 가능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ResNet-18: 11M, ResNet-50: 25M, ResNet-101: 45M params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사용: Monodepth2 (R18, 14.8M 전체), FCRN (R50, 63M)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DenseNet (Huang et al., 2017)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모든 layer를 dense하게 연결 → feature reuse, gradient flow 강함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DenseNet-161: 28.9M params, 7.8 GFLOPs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사용: DenseDepth (D169, ~42M), BTS (D161, ~47M encoder)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EfficientNet (Tan &amp; Le, 2019)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compound scaling: depth·width·resolution 동시 확장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B0: 5.3M, B4: 19M, B5: 30M, B7: 66M params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사용: AdaBins (EfficientNet-B5 + decoder = 78M 전체)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ConvNeXt (Liu et al., 2022 / v2: Woo et al., 2023)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ViT 디자인 원칙(7x7 DW conv, LayerNorm, GELU)을 CNN에 적용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Tiny: 28M / Small: 50M / Base: 89M / Large: 198M params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ImageNet top-1: Tiny 83.0% · Base 85.5% · Large 86.6%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5. Transformer 계열: ViT · Swin · SegFormer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333333"/>
                </a:solidFill>
              </a:rPr>
              <a:t>ViT (Dosovitskiy et al., 2020)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이미지를 16x16 패치로 나눠 pure transformer로 처리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ViT-B/16: 86M / ViT-L/16: 307M params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장점: 글로벌 receptive field, 장거리 의존성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단점: inductive bias 부족 → 대용량 ImageNet-22k pretrain 필수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Swin Transformer (Liu et al., 2021)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shifted window로 local + global attention 균형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Swin-T: 28M / Swin-S: 50M / Swin-B: 88M / Swin-L: 197M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장점: hierarchical feature (CNN처럼 multi-scale), 효율적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DPT (Ranftl et al., 2021)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ViT 백본 + reassemble block으로 dense prediction용 multi-scale feature 생성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DPT-Hybrid (ResNet50 + ViT): ~123M / DPT-Large: ~344M params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MiDaS v3 대비 23–28% 성능 향상 (zero-shot)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SegFormer Mix Transformer (MiT)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계층적 transformer encoder, positional encoding 불필요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GLPDepth의 백본: MiT-B4 (62M)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6. Output Head: 직접 회귀 vs Adaptive Bins vs Ordinal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87828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Head 방식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수식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장점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단점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대표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Direct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σ(x) · max_depth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단순, 빠름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경계 blur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DenseDepth, GLPDepth, ConvNeXt-MDE (현재)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Adaptive Bins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Σ softmax(logit)·c_i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분포 표현, 불확실성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bin 개수 tuning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AdaBins (256 bins)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Ordinal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Σ P(d &gt; d_k)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경계 sharp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이산 값만 예측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DORN (68~140 bin)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Local Planar Guidance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ax+by+c 평면 파라미터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실내 평면 강함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곡면 약함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BTS (4 stage, ×32/16/8/4)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Diffusion Head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x_t → x_{t-1} denoise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zero-shot 일반화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수십 step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Marigold (SD v2 UNet)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Metric Bins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domain별 bin head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indoor+outdoor 동시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router 학습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ZoeDepth (12 datasets)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7. 정량 비교 — 파라미터 · 속도 · 정확도 (KITTI)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  <a:gridCol w="1451610"/>
              </a:tblGrid>
              <a:tr h="353568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연도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파라미터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GPU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추론 (ms)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δ₁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AbsRel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Eigen et al.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K40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7.156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FCRN (Laina)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63M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TitanX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~55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0.811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0.127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4.621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DORN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~110M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P100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2.727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DenseDepth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~42M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TitanRTX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~60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0.886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0.093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3.170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Monodepth2 (R18,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14.8M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V100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4.863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BTS (D161)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~47M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RTX 2080 Ti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~52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0.956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0.059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2.756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AdaBins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78M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V100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2.360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DPT-Large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~344M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V100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~100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GLPDepth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~62M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RTX 3090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2.297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NeWCRFs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~270M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V100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~181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0.974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0.052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2.072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ZoeDepth M12-NK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~345M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V100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~170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2.281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Depth Anything v2-L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335.3M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A100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~30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0.982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0.045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1.896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Marigold (10 steps)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~1300M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A100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~2500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ConvNeXt+LWA (TIE)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15.1M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RTX 3050M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~43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0.959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0.065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2.436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i="1">
                <a:solidFill>
                  <a:srgbClr val="595959"/>
                </a:solidFill>
              </a:rPr>
              <a:t>숫자는 각 논문 Table / GitHub 공식 수치 기준. 서로 다른 GPU·해상도라 절대비교보다는 스케일 비교용.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8. 속도 vs 정확도 Trade-off 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solidFill>
                  <a:srgbClr val="333333"/>
                </a:solidFill>
              </a:rPr>
              <a:t>실시간(≥20 FPS, &lt;50ms) + 고정확도 영역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ConvNeXt+LWA (TIE) — 15M, ~43ms, δ₁=0.959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Monodepth2 (self-sup.) — 15M, ~18ms, but δ₁=0.877 (정확도 낮음)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Depth Anything v2-S — 25M, 적당한 속도, δ₁≈0.965</a:t>
            </a:r>
          </a:p>
          <a:p>
            <a:pPr/>
            <a:r>
              <a:rPr sz="1500" b="1">
                <a:solidFill>
                  <a:srgbClr val="333333"/>
                </a:solidFill>
              </a:rPr>
              <a:t>중간대 (50–100ms)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BTS, DenseDepth, AdaBins, GLPDepth — 50~90ms, δ₁=0.88~0.97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연구/분석 용도, 서버 GPU에서 합리적</a:t>
            </a:r>
          </a:p>
          <a:p>
            <a:pPr/>
            <a:r>
              <a:rPr sz="1500" b="1">
                <a:solidFill>
                  <a:srgbClr val="333333"/>
                </a:solidFill>
              </a:rPr>
              <a:t>대형 모델 (&gt;150ms, 고정확도)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NeWCRFs, ZoeDepth, DPT-Large — 170~400ms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전용 GPU 필요, 벤치마크 leaderboard 상단</a:t>
            </a:r>
          </a:p>
          <a:p>
            <a:pPr/>
            <a:r>
              <a:rPr sz="1500" b="1">
                <a:solidFill>
                  <a:srgbClr val="333333"/>
                </a:solidFill>
              </a:rPr>
              <a:t>초대형 / 확산 모델 (&gt;1s)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Marigold 10-step — ~2.5s, zero-shot 일반화 최고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연구용, real-time 불가</a:t>
            </a:r>
          </a:p>
          <a:p>
            <a:pPr/>
            <a:r>
              <a:rPr sz="1500">
                <a:solidFill>
                  <a:srgbClr val="333333"/>
                </a:solidFill>
              </a:rPr>
              <a:t> </a:t>
            </a:r>
          </a:p>
          <a:p>
            <a:pPr/>
            <a:r>
              <a:rPr sz="1500" b="1">
                <a:solidFill>
                  <a:srgbClr val="333333"/>
                </a:solidFill>
              </a:rPr>
              <a:t>Pareto frontier: ConvNeXt+LWA vs Depth Anything vs NeWCRFs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용도별 선택: UAV → 전자, robot perception → 중자, offline 분석 → 후자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9. Loss Function — 실무 선택지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Loss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수식 요약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장점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단점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대표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L1 / L2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|pred - gt|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간단, 직관적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scale에 민감, 큰 depth dominate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많은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BerHu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|x|&lt;c: L1, else: L2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outlier robust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c 튜닝 필요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FCRN (Laina 2016)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Scale-Invariant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√(1/T Σg² − λ/T² (Σg)²), g=log diff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scale invariance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λ 선택에 따라 성능 변화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Eigen, TIE(현재)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SILog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SI + 0.15×(…) 보정항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KITTI SOTA 표준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논문마다 λ·scaling 상이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BTS, AdaBins, NewCRFs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Chamfer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bin center 예측 분포 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bin head와 함께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bin head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AdaBins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Gradient matching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gradient L1/L2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경계 sharpening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main loss와 weight 조정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보조 loss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Photometric (SSIM)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SSIM(Ît, It)+L1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GT 없이 학습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occlusion 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Monodepth2 (self-sup.)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10. Foundation 모델 — DINOv2 · Depth Anything · ZoeDepth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333333"/>
                </a:solidFill>
              </a:rPr>
              <a:t>DINOv2 (Meta, 2023)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self-supervised vision backbone, 142M 이미지로 pretrain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ViT-S/B/L/g (21M / 86M / 300M / 1.1B)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Depth Anything, Depth Pro의 인코더로 사용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Depth Anything v1 / v2 (Bytedance, 2024)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v1: 1.5M labeled + 62M unlabeled → DINOv2 backbone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v2: synthetic-heavy 학습, 경계 선명, 투명물체 대응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Small/Base/Large: 25M / 97M / 335M params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A100 상에서 Small &lt;10ms/image → 모바일/로봇 실시간 가능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ZoeDepth (Intel ISL, 2023)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relative depth로 12 dataset pretrain → metric bins head로 fine-tune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indoor + outdoor 동시 학습 가능한 최초 모델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M12-NK: ~345M params, V100 inference ~170ms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공통 가치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실내·실외 unseen 환경에서도 안정적 depth 추정 (zero-shot)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데이터가 제한적인 실무에서 강력 → fine-tuning base로 유리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11. Diffusion 기반 — Marigold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333333"/>
                </a:solidFill>
              </a:rPr>
              <a:t>핵심 아이디어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Stable Diffusion v2 (이미지 생성 모델)의 UNet을 depth 생성기로 fine-tune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RGB condition → depth latent에서 denoise 수십 step 반복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아키텍처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UNet: ~860M params, VAE encoder/decoder 추가 (총 ~1.3B)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Depth map도 latent space에서 처리 → 경계 극도로 선명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특징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Zero-shot 일반화 최고 수준 — synthetic 40k 이미지만 fine-tune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10-step 기준 A100에서 ~2.5s/image (real-time 불가)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ensemble=10으로 확률적 평균 → 정확도 ↑ (하지만 10배 느림)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경량 변종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Marigold-LCM: Latent Consistency Model, 1~4 step으로 가속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DepthFM (Flow Matching): diffusion보다 빠른 추론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실무 포지션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offline 분석·아트 파이프라인·품질 최우선 시나리오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실시간 robot perception/UAV엔 부적합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12. 현재 모델 — ConvNeXt v2 + LWA Decoder (TIE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333333"/>
                </a:solidFill>
              </a:rPr>
              <a:t>구조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Encoder: ConvNeXt v2 Tiny (timm pretrained, 15M)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Global: PPM Head (pyramid pooling, 1/2/3/6)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Decoder: 3× LWA block (7×7, 3×3, 3×3 DW conv + attention)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Head: Scaling Block (hard sigmoid × max_depth)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핵심 혁신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LWA decoder: depthwise separable로 5× 연산량 절감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Scaling Block: 가변 max_depth → NYU·KITTI 혼합 가능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ConvNeXt v2 pretrain → ViT 급 정확도, CNN 급 속도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연산량 (TIE 논문 Fig.3)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전체 파라미터 15.1M (vs NewCRFs 270M, ZoeDepth 345M)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RTX 3050 Mobile에서 ~43ms/image (22+ FPS 실시간)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RTX 5070 (현재 env): ~6ms/image 수준 예상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280160"/>
            <a:ext cx="4114800" cy="4114800"/>
          </a:xfrm>
          <a:prstGeom prst="roundRect">
            <a:avLst/>
          </a:prstGeom>
          <a:solidFill>
            <a:srgbClr val="FDF4E3"/>
          </a:solidFill>
          <a:ln w="19050">
            <a:solidFill>
              <a:srgbClr val="E36C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41732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F4E79"/>
                </a:solidFill>
              </a:rPr>
              <a:t>본 프로젝트 실측 (KITTI, 7 epochs)</a:t>
            </a:r>
          </a:p>
          <a:p/>
          <a:p>
            <a:r>
              <a:rPr sz="1400">
                <a:solidFill>
                  <a:srgbClr val="333333"/>
                </a:solidFill>
              </a:rPr>
              <a:t>δ₁ = 0.9589</a:t>
            </a:r>
          </a:p>
          <a:p>
            <a:r>
              <a:rPr sz="1400">
                <a:solidFill>
                  <a:srgbClr val="333333"/>
                </a:solidFill>
              </a:rPr>
              <a:t>δ₂ = 0.9940</a:t>
            </a:r>
          </a:p>
          <a:p>
            <a:r>
              <a:rPr sz="1400">
                <a:solidFill>
                  <a:srgbClr val="333333"/>
                </a:solidFill>
              </a:rPr>
              <a:t>δ₃ = 0.9986</a:t>
            </a:r>
          </a:p>
          <a:p>
            <a:r>
              <a:rPr sz="1400">
                <a:solidFill>
                  <a:srgbClr val="333333"/>
                </a:solidFill>
              </a:rPr>
              <a:t>AbsRel = 0.0614</a:t>
            </a:r>
          </a:p>
          <a:p>
            <a:r>
              <a:rPr sz="1400">
                <a:solidFill>
                  <a:srgbClr val="333333"/>
                </a:solidFill>
              </a:rPr>
              <a:t>RMSE = 3.01 m</a:t>
            </a:r>
          </a:p>
          <a:p/>
          <a:p>
            <a:r>
              <a:rPr sz="1200">
                <a:solidFill>
                  <a:srgbClr val="333333"/>
                </a:solidFill>
              </a:rPr>
              <a:t>학습 시간: 5 h on RTX 5070</a:t>
            </a:r>
          </a:p>
          <a:p>
            <a:r>
              <a:rPr sz="1200">
                <a:solidFill>
                  <a:srgbClr val="333333"/>
                </a:solidFill>
              </a:rPr>
              <a:t>(batch=8, 7 epochs)</a:t>
            </a:r>
          </a:p>
          <a:p/>
          <a:p>
            <a:r>
              <a:rPr sz="1100">
                <a:solidFill>
                  <a:srgbClr val="333333"/>
                </a:solidFill>
              </a:rPr>
              <a:t>TIE 논문 25 epochs 결과와</a:t>
            </a:r>
          </a:p>
          <a:p>
            <a:r>
              <a:rPr sz="1100">
                <a:solidFill>
                  <a:srgbClr val="333333"/>
                </a:solidFill>
              </a:rPr>
              <a:t>δ₁ 동일 수준 — 파이프라인 검증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본 프로젝트의 두 논문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CDDEE"/>
                </a:solidFill>
              </a:rPr>
              <a:t>Master's Thesis (2022) → IEEE TIE (2025)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14. Master's Thesis (2022) — "Refined Depth Estimation and Safety Navigation with a Binocular Camera"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연구 배경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MAV(Micro Aerial Vehicle)는 3D 기동성 우수하나 자율 회피 필요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기존 방법의 한계: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LiDAR/event camera → 비싸고 무거움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단안 학습 기반(DroNet, Chakravarty) → 좁은 FOV로 충돌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Wide stereo(Mueller) → 복잡한 mapping + VIO 필요</a:t>
            </a:r>
          </a:p>
          <a:p>
            <a:pPr/>
            <a:r>
              <a:rPr sz="1300" b="1">
                <a:solidFill>
                  <a:srgbClr val="333333"/>
                </a:solidFill>
              </a:rPr>
              <a:t>개발 의도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학습 기반 depth + Wide FOV stereo 결합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복잡한 mapping 없이 depth image만으로 3D 회피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실내 복잡 환경(복도, 방, 3D 장애물)에서 동작 가능한 경량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09728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주요 기여 (Contributions)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① Wide-FOV stereo 카메라용 depth 추정 알고리즘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70°×2 단안 카메라 + 15° 외향 배치 = 총 100°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MDE(AdaBins) + Stereo matching(ZNCC) 융합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복잡 환경에서도 mono보다 정확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② 간단한 3D 장애물 회피 알고리즘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추정 depth image만으로 직접 명령 생성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복잡 mapping/trajectory optimization 불필요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Chakravarty(2D)와 달리 3D 장애물 회피 가능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③ 학습 기반 stereo depth를 drone real-time 비행에 적용한 최초 연구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15. Thesis — 알고리즘 상세 및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33333"/>
                </a:solidFill>
              </a:rPr>
              <a:t>파이프라인 (Fig. 2)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1) MDE: AdaBins로 좌/우 단안 depth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2) Rectification: 외향 15° 카메라 정렬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3) ZNCC stereo: 겹치는 영역의 sparse depth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4) SEEDS superpixel → depth refinement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5) Navigation: behavior arbitration (δ_ψ, δ_z, δ_v)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1F4E79"/>
                </a:solidFill>
              </a:rPr>
              <a:t>Depth Refinement 수식 (eq. 2-3)</a:t>
            </a:r>
          </a:p>
          <a:p>
            <a:r>
              <a:rPr sz="1100">
                <a:latin typeface="Courier New"/>
              </a:rPr>
              <a:t>  d^g_ref,i = r^g · (Σd_stereo,c / Σd_mono,c) · d^g_mono,i</a:t>
            </a:r>
          </a:p>
          <a:p>
            <a:r>
              <a:rPr sz="1100">
                <a:latin typeface="Courier New"/>
              </a:rPr>
              <a:t>  r^g = 1  if  d_max/d_min &lt; 1.5  else  0</a:t>
            </a:r>
          </a:p>
          <a:p>
            <a:r>
              <a:rPr sz="1000" i="1">
                <a:solidFill>
                  <a:srgbClr val="595959"/>
                </a:solidFill>
              </a:rPr>
              <a:t>  → superpixel 그룹 내 depth 변화 큰 경우 제외 (outlier 억제)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17920" y="1005840"/>
          <a:ext cx="5760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180"/>
                <a:gridCol w="1440180"/>
                <a:gridCol w="1440180"/>
                <a:gridCol w="144018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방법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AvgδR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SD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비고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DenseDepth [15]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0.443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기준선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Adabins [16]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0.517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0.271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MDE only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BTS [17]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0.474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ZNCC [31]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0.299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0.054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stereo only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SGM [33]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0.105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Ours1 (w/ZNCC)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0.705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0.186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제안 (최고)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Ours2 (w/SGM)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0.269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02920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33333"/>
                </a:solidFill>
              </a:rPr>
              <a:t>주요 효과 (Table 2 / Fig. 7)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복도처럼 texture 약한 환경(image 1-2)에서 MDE only 대비 δ₁ 2~3배 향상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Simulation: DroNet/Chakravarty는 복잡 환경에서 충돌 → Ours는 3D 장애물도 회피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연산 시간 (Table 3): Desktop 619ms / Laptop 995ms (실시간에 근접하나 느린 편)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16. TIE Paper (2025) — "Obstacle Avoidance of a UAV Using Fast Monocular Depth Estimation..."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Thesis(2022)의 한계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추론 속도 Desktop 619ms → 실시간 비행에 한계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AdaBins(78M) 의존 → 미학습 환경 일반화 약함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단순 비율 스케일링(r^g=0/1) → 노이즈에 민감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Simulation 위주 검증, real UAV 비행 미흡</a:t>
            </a:r>
          </a:p>
          <a:p>
            <a:pPr/>
            <a:r>
              <a:rPr sz="1300" b="1">
                <a:solidFill>
                  <a:srgbClr val="333333"/>
                </a:solidFill>
              </a:rPr>
              <a:t>개선 방향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자체 경량 MDE 네트워크 (unseen 환경까지 감당)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Linear regression 기반 robust refinement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실제 드론 비행 (실내 dynamic + 실외 static 장애물)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목표점까지 autonomous flight 알고리즘 (Alg.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09728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주요 기여 (Contributions)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① Fast MDE 네트워크 설계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ConvNeXt v2 encoder + LWA decoder + Scaling Block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15.1M params, 기존 GLPDepth 대비 ~5× 빠름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RTX 3050 mobile 기준 42.9ms/image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② 개선된 Depth Refinement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Linear regression: d = s·d̂ + t (iterative + 1차 필터)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Superpixel outlier 제거 (MDE-stereo 50% 이상 차이 제거)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③ 다양한 데이터셋 평가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KITTI / vKITTI2 / ApolloScape / DDAD / 자체 outdoor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④ 실제 UAV 비행 실험 (indoor + outdoor)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자체 wide stereo(110°×2 = 160°) + Jetson NX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10Hz 이상 avoidance command 생성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17. TIE Paper — 알고리즘 및 결과 하이라이트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669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33333"/>
                </a:solidFill>
              </a:rPr>
              <a:t>Depth Refinement (eq. 3)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d^g_i = s_f · d̂^g_i + t_f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s, t는 inlier regression으로 매 frame 업데이트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1차 필터(time-constant α)로 smoothing</a:t>
            </a:r>
          </a:p>
          <a:p>
            <a:pPr/>
            <a:r>
              <a:rPr sz="1200" b="1">
                <a:solidFill>
                  <a:srgbClr val="333333"/>
                </a:solidFill>
              </a:rPr>
              <a:t>Obstacle Avoidance (eq. 4-6)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D^g_i = exp(d_c − d^g_i) · N^g·S_n / (H·W)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exponential depth weighting (가까우면 큰 가중)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φ_f^h = Σ D^g_i · W^h_i (horizontal)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δ_h = φ_f^h · exp(−(φ_f^h/G_a)²)  (smooth command)</a:t>
            </a:r>
          </a:p>
          <a:p>
            <a:pPr/>
            <a:r>
              <a:rPr sz="1200" b="1">
                <a:solidFill>
                  <a:srgbClr val="333333"/>
                </a:solidFill>
              </a:rPr>
              <a:t>Target-point Navigation (Alg. 1)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collision prob 기반 속도 제어, goal heading과 avoidance 합성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09360" y="100584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데이터셋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Monodepth2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AdaBins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NewCRFs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Ours+Ref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KITTI (seen) δ₁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vKITTI2 δ₁ (unseen)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0.835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0.853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0.848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0.910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ApolloScape δ₁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DDAD δ₁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0.768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0.752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0.843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0.843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Outdoor(≤15m) δ₁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0.108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Inference (ms)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9.9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91.0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181.6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49.1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3891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33333"/>
                </a:solidFill>
              </a:rPr>
              <a:t>주요 효과 &amp; 인사이트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Seen KITTI 기준 NewCRFs에 근접한 정확도 (δ₁ 0.973 vs 0.975)로 18× 빠른 추론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Unseen 데이터셋에서 타 모델 대비 압도적 일반화 성능 (ApolloScape δ₁ 0.079 → 0.797)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자체 outdoor dataset 근거리 (≤15m) 근접 물체에서 기존 MDE 4~5배 정확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실제 UAV(Jetson NX) 비행 실험: 실내 dynamic 사람 회피 + 실외 static 장애물 회피 성공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Thesis 대비: 정확도↑ 속도 10×↑ (995ms → 98ms) 실용성 극적 개선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18. Thesis (2022) vs TIE Paper (2025) — 변화와 개선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407963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Master's Thesis (2022)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TIE Paper (2025)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문제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복잡 환경 drone 3D 장애물 회피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실시간 UAV + unseen 환경 일반화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카메라 FOV (총)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~100° (70° × 2, 외향 15°)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160° (110° × 2, 외향 25°)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MDE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AdaBins (EfficientNet-B5, 78M params)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ConvNeXt v2 Tiny + LWA decoder (15.1M params, 직접 설계)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Stereo Matching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ZNCC (적응형 window)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Libelas (빠르고 robust)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Depth 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단순 비율 스케일: d_ref = r·(Σd_s/Σd_m)·d_m, r∈{0,1}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Linear regression: d = s·d̂ + t, 매 frame 업데이트 + 1차 필터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Navigation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Behavior arbitration (superpixel 기반 δ_ψ, δ_z)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Exponential depth 가중 + collision prob + target-point 복귀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실험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Gazebo simulation (복도, 3D 장애물)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시뮬레이션 + 실제 drone (indoor dynamic, outdoor static)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추론 속도 (laptop)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995 ms (1 FPS 수준)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98 ms (10 FPS 실시간)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데이터셋 평가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자체 22개 실내 이미지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KITTI + vKITTI2 + ApolloScape + DDAD + 자체 outdoor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KITTI δ₁ (w/ refinement)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—(자체 dataset 위주)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0.973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핵심 기여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Wide FOV stereo + learning MDE 드론 최초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경량 고속 MDE + robust refinement + real UAV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한계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속도 느림, unseen 환경 약함, real drone 미검증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Close-range 실외에서 여전히 어려움, 모션 블러 환경 남는 과제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19. TIE Network — 왜 이렇게 설계했나?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430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500">
                <a:solidFill>
                  <a:srgbClr val="E36C09"/>
                </a:solidFill>
              </a:rPr>
              <a:t>설계 목표 3대 (모두 동시 만족해야 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>
                <a:solidFill>
                  <a:srgbClr val="333333"/>
                </a:solidFill>
              </a:rPr>
              <a:t>① 실시간성 — UAV onboard(Jetson NX) 10 Hz 이상, depth refinement + navigation 포함 end-to-end ≤ 100 ms</a:t>
            </a:r>
          </a:p>
          <a:p>
            <a:pPr/>
            <a:r>
              <a:rPr sz="1200">
                <a:solidFill>
                  <a:srgbClr val="333333"/>
                </a:solidFill>
              </a:rPr>
              <a:t>② 일반화 — KITTI만으로 학습해도 vKITTI2·ApolloScape·DDAD 등 unseen 환경에서 동작</a:t>
            </a:r>
          </a:p>
          <a:p>
            <a:pPr/>
            <a:r>
              <a:rPr sz="1200">
                <a:solidFill>
                  <a:srgbClr val="333333"/>
                </a:solidFill>
              </a:rPr>
              <a:t>③ Refinement 친화 — 후단 stereo-linear-regression과 결합 용이, 안정적 inlier 분포 생성 필요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743200"/>
          <a:ext cx="1161288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0960"/>
                <a:gridCol w="3870960"/>
                <a:gridCol w="3870960"/>
              </a:tblGrid>
              <a:tr h="624839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구성요소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선택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선택 이유 (논문 근거)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ConvNeXt v2 Tiny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ViT는 정확하나 patching overhead + pretrain 대량 필요. ConvNeXt v2는 ViT 설계원칙(7×7 DW, LayerNorm, GELU) 차용해 CNN 효율 유지. Stem block(4×4 conv stride 4)이 patching 연산 대체해 5ms 이상 절감.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Global feature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PPM Head (1·2·3·6)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Decoder가 depthwise conv 기반이라 receptive field 좁음 → PPM으로 multi-scale global context 주입. 논문 원문: "assists in learning appropriate local dependencies for depthwise convolution."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Decoder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3× LWA Block (첫 블록 7×7 DW)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기존 3×3 conv 대비 depthwise separable로 연산량 ~5.3× 감소 (C·H·W·1452 → 274). 첫 블록만 7×7 DW로 큰 receptive field 확보. Attention gate로 정보성 높은 영역 강조.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Output head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Adaptive Scaling Block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NewCRFs/GLPDepth는 sigmoid × 80 m 고정 → dataset별 max depth 변화 대응 불가. Scaling block은 max_depth를 외부 인자로 받아 KITTI(80)·NYU(10) 혼합 학습 가능. Hard sigmoid는 gradient 소멸 방지 + 계산 빠름.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Scale-Invariant (α=10, λ=0.85)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Eigen 2014 원조, 여전히 표준. λ=0.85는 pure scale invariance(λ=1) 아닌 완화형으로 scale error도 부분 penalize. SILog(BTS·AdaBins 사용)보다 구현 단순하고 성능 거의 동등.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20. 다른 설계도 가능했는데 왜 선택하지 않았나?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07963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대안 (가능했던 선택)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장점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단점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TIE에서 탈락한 이유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ViT encoder (DPT-Large)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Global receptive field, 장거리 의존성 강함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344M params, ~100ms+ 추론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UAV 실시간 불가 + pretrain data 대량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Swin-L encoder (NeWCRFs)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Hierarchical feature, SOTA 정확도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270M params, ~181ms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Jetson NX onboard 부적합, end-to-end &lt;100ms 목표 위배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ResNet-50 encoder (DenseDepth)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단순, 빠름, 오래 검증됨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ViT·ConvNeXt 대비 unseen 일반화 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논문 핵심 기여(unseen generalization) 달성 어려움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DINOv2 encoder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Zero-shot 강력, 최신 foundation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ViT-B=86M / ViT-L=300M, 2024 당시 로봇 응용 미성숙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경량·실시간 목표와 충돌 + 파이프라인 복잡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U-Net decoder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구조 단순, 구현 쉽움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표현력 부족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장거리 scene 정확도 타협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DPT transformer decoder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풍부한 global context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무거움, FLOPs 증가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실시간 파이프라인과 상충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Adaptive Bins head (AdaBins)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불확실성·분포 표현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miniViT 추가(~6M) + softmax Σ 연산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속도 저하 + refinement과 결합 이득 작음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Local Planar Guidance (BTS)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실내 평면 환경 특화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Outdoor 곡면·나무·도로에 약함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TIE의 주 타깃은 outdoor UAV → 부적합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Ordinal Regression (DORN)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경계 선명, KITTI 강함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이산 depth 값만 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연속 depth 필요한 stereo regression과 결합 곤란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Diffusion (Marigold)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Zero-shot 최고 수준, 극도로 sharp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~2500ms/image, 1.3B params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UAV 실시간 절대 불가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Photometric loss (Monodepth2)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GT 없이 학습 가능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Monocular 스케일 모호, occlusion 약함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Stereo depth refinement과 scale 충돌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333333"/>
                          </a:solidFill>
                        </a:rPr>
                        <a:t>Fixed max_depth head (기존 표준)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구현 단순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Dataset마다 재학습 필요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333333"/>
                          </a:solidFill>
                        </a:rPr>
                        <a:t>다양한 환경 대응 어렵 — Scaling Block으로 대체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21. TIE Network 설계 철학 — 한 줄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554480"/>
            <a:ext cx="9418320" cy="1828800"/>
          </a:xfrm>
          <a:prstGeom prst="roundRect">
            <a:avLst/>
          </a:prstGeom>
          <a:solidFill>
            <a:srgbClr val="FDF4E3"/>
          </a:solidFill>
          <a:ln w="25400">
            <a:solidFill>
              <a:srgbClr val="E36C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737360"/>
            <a:ext cx="8869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4E79"/>
                </a:solidFill>
              </a:rPr>
              <a:t>"극단 최적화(최고 정확도 or 최고 속도)가 아니라,</a:t>
            </a:r>
          </a:p>
          <a:p>
            <a:pPr algn="ctr"/>
            <a:r>
              <a:rPr sz="1800">
                <a:solidFill>
                  <a:srgbClr val="1F4E79"/>
                </a:solidFill>
              </a:rPr>
              <a:t>depth refinement + navigation 파이프라인 전체가 100 ms 내에서 동작하는</a:t>
            </a:r>
          </a:p>
          <a:p>
            <a:pPr algn="ctr"/>
            <a:r>
              <a:rPr sz="2000" b="1">
                <a:solidFill>
                  <a:srgbClr val="1F4E79"/>
                </a:solidFill>
              </a:rPr>
              <a:t>적정 정확도를 목표로 한 시스템 레벨 최적화"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실무 교훈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단일 metric(δ₁ 만점) 최적화는 실제 시스템에 쓸모없을 수 있다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모델 설계는 파이프라인 전체의 constraint에 종속 — 전후 모듈과 함께 설계해야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'좋다고 알려진 최신 모델' 무조건 사용보다, 본인 요구사항(실시간·하드웨어·도메인)에 맞춘 조합이 유효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Scaling Block처럼 '쓸 때 결정되는 파라미터'를 두면 한 번 학습한 모델의 재사용성이 폭발적으로 증가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향후 본인 네트워크 설계 시: 목표 3대(속도/정확도/일반화)를 명확히 정하고, 각 구성요소 선택 근거를 논리적으로 정당화할 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알고리즘 상세 로직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CDDEE"/>
                </a:solidFill>
              </a:rPr>
              <a:t>Depth Refinement &amp; Obstacle Avoidance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23. Depth Refinement — 필요성과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왜 Refinement 가 필요한가?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MDE only: 학습 분포와 다른 환경에서 스케일 오차 큼 (복도·단색 벽)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Stereo only: sparse 해서 dense depth 불가, texture 약하면 불안정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→ MDE 의 dense 구조 + Stereo 의 reliable metric scale 결합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E36C09"/>
                </a:solidFill>
              </a:rPr>
              <a:t>7 단계 파이프라인 (TIE 논문)</a:t>
            </a:r>
          </a:p>
          <a:p>
            <a:r>
              <a:rPr sz="1200">
                <a:solidFill>
                  <a:srgbClr val="333333"/>
                </a:solidFill>
              </a:rPr>
              <a:t>Step 1. Rectification — 좌/우 이미지를 epipolar line 수평 정렬</a:t>
            </a:r>
          </a:p>
          <a:p>
            <a:r>
              <a:rPr sz="1200">
                <a:solidFill>
                  <a:srgbClr val="333333"/>
                </a:solidFill>
              </a:rPr>
              <a:t>Step 2. Stereo Matching (SGBM/Libelas) — 겹치는 영역에서 sparse depth 획득</a:t>
            </a:r>
          </a:p>
          <a:p>
            <a:r>
              <a:rPr sz="1200">
                <a:solidFill>
                  <a:srgbClr val="333333"/>
                </a:solidFill>
              </a:rPr>
              <a:t>Step 3. Superpixel 분할 (SEEDS) — 시각 유사 픽셀 그룹화</a:t>
            </a:r>
          </a:p>
          <a:p>
            <a:r>
              <a:rPr sz="1200">
                <a:solidFill>
                  <a:srgbClr val="333333"/>
                </a:solidFill>
              </a:rPr>
              <a:t>Step 4. Outlier 제거 (2 단계):</a:t>
            </a:r>
          </a:p>
          <a:p>
            <a:r>
              <a:rPr sz="1100" i="1">
                <a:solidFill>
                  <a:srgbClr val="333333"/>
                </a:solidFill>
              </a:rPr>
              <a:t>   ① 그룹 내 stereo depth 변동 큰 그룹 제외</a:t>
            </a:r>
          </a:p>
          <a:p>
            <a:r>
              <a:rPr sz="1100" i="1">
                <a:solidFill>
                  <a:srgbClr val="333333"/>
                </a:solidFill>
              </a:rPr>
              <a:t>   ② MDE-Stereo 중앙값이 50% 이상 차이나면 제외</a:t>
            </a:r>
          </a:p>
          <a:p>
            <a:r>
              <a:rPr sz="1200">
                <a:solidFill>
                  <a:srgbClr val="333333"/>
                </a:solidFill>
              </a:rPr>
              <a:t>Step 5. Linear Regression (OLS): n ≥ threshold 일 때 (s_d, t_d) 추정</a:t>
            </a:r>
          </a:p>
          <a:p>
            <a:r>
              <a:rPr sz="1200">
                <a:solidFill>
                  <a:srgbClr val="333333"/>
                </a:solidFill>
              </a:rPr>
              <a:t>Step 6. Temporal Smoothing (1차 필터): s_f ← α·s_f_prev + (1-α)·s_d</a:t>
            </a:r>
          </a:p>
          <a:p>
            <a:r>
              <a:rPr sz="1200">
                <a:solidFill>
                  <a:srgbClr val="333333"/>
                </a:solidFill>
              </a:rPr>
              <a:t>Step 7. 전체 적용: d_refined = s_f · d̂ + t_f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24. Refinement 수식 — Thesis (비율 스케일) vs TIE (Linear Regression)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760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</a:rPr>
              <a:t>Thesis (2022) — 비율 스케일링 (eq. 2-3)</a:t>
            </a:r>
          </a:p>
          <a:p>
            <a:r>
              <a:t> </a:t>
            </a:r>
          </a:p>
          <a:p>
            <a:r>
              <a:rPr sz="1200">
                <a:solidFill>
                  <a:srgbClr val="333333"/>
                </a:solidFill>
                <a:latin typeface="Courier New"/>
              </a:rPr>
              <a:t>d^g_ref,i = r^g · (Σ d^g_stereo,c / Σ d^g_mono,c) · d^g_mono,i</a:t>
            </a:r>
          </a:p>
          <a:p>
            <a:r>
              <a:t> </a:t>
            </a:r>
          </a:p>
          <a:p>
            <a:r>
              <a:rPr sz="1100">
                <a:solidFill>
                  <a:srgbClr val="333333"/>
                </a:solidFill>
                <a:latin typeface="Courier New"/>
              </a:rPr>
              <a:t>r^g = 1  if  d_max / d_min &lt; 1.5</a:t>
            </a:r>
          </a:p>
          <a:p>
            <a:r>
              <a:rPr sz="1100">
                <a:solidFill>
                  <a:srgbClr val="333333"/>
                </a:solidFill>
                <a:latin typeface="Courier New"/>
              </a:rPr>
              <a:t>      0  otherwise</a:t>
            </a:r>
          </a:p>
          <a:p>
            <a:r>
              <a:t> </a:t>
            </a:r>
          </a:p>
          <a:p>
            <a:r>
              <a:rPr sz="1100">
                <a:solidFill>
                  <a:srgbClr val="333333"/>
                </a:solidFill>
              </a:rPr>
              <a:t>→ binary 플래그, scale 만 보정</a:t>
            </a:r>
          </a:p>
          <a:p>
            <a:r>
              <a:rPr sz="1100">
                <a:solidFill>
                  <a:srgbClr val="333333"/>
                </a:solidFill>
              </a:rPr>
              <a:t>→ 그룹 내 stereo 분산 크면 refinement 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005840"/>
            <a:ext cx="5669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400">
                <a:solidFill>
                  <a:srgbClr val="1F4E79"/>
                </a:solidFill>
              </a:rPr>
              <a:t>TIE (2025) — 선형 회귀 (eq. 3 변형)</a:t>
            </a:r>
          </a:p>
          <a:p>
            <a:r>
              <a:t> </a:t>
            </a:r>
          </a:p>
          <a:p>
            <a:r>
              <a:rPr sz="1200">
                <a:solidFill>
                  <a:srgbClr val="333333"/>
                </a:solidFill>
                <a:latin typeface="Courier New"/>
              </a:rPr>
              <a:t>d_i = s_f · d̂_i + t_f</a:t>
            </a:r>
          </a:p>
          <a:p>
            <a:r>
              <a:t> </a:t>
            </a:r>
          </a:p>
          <a:p>
            <a:r>
              <a:rPr sz="1100">
                <a:solidFill>
                  <a:srgbClr val="333333"/>
                </a:solidFill>
                <a:latin typeface="Courier New"/>
              </a:rPr>
              <a:t>s_d, t_d = OLS regression from n inliers</a:t>
            </a:r>
          </a:p>
          <a:p>
            <a:r>
              <a:rPr sz="1100">
                <a:solidFill>
                  <a:srgbClr val="333333"/>
                </a:solidFill>
                <a:latin typeface="Courier New"/>
              </a:rPr>
              <a:t>s_f ← α · s_f_prev + (1-α) · s_d</a:t>
            </a:r>
          </a:p>
          <a:p>
            <a:r>
              <a:rPr sz="1100">
                <a:solidFill>
                  <a:srgbClr val="333333"/>
                </a:solidFill>
                <a:latin typeface="Courier New"/>
              </a:rPr>
              <a:t>t_f ← α · t_f_prev + (1-α) · t_d</a:t>
            </a:r>
          </a:p>
          <a:p>
            <a:r>
              <a:t> </a:t>
            </a:r>
          </a:p>
          <a:p>
            <a:r>
              <a:rPr sz="1100">
                <a:solidFill>
                  <a:srgbClr val="333333"/>
                </a:solidFill>
              </a:rPr>
              <a:t>→ scale + offset 동시 보정</a:t>
            </a:r>
          </a:p>
          <a:p>
            <a:r>
              <a:rPr sz="1100">
                <a:solidFill>
                  <a:srgbClr val="333333"/>
                </a:solidFill>
              </a:rPr>
              <a:t>→ temporal smoothing (flicker 제거)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840480"/>
          <a:ext cx="113385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Thesis (2022)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TIE (2025)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보정 모델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 = k · d̂  (scale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d = s·d̂ + t  (scale + bias)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Outlier 처리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binary flag r^g ∈ {0,1}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2단계 필터링 + 조건부 업데이트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시간적 smoothing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없음 (flicker 발생 가능)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1차 필터 (α smoothing)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표현력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scale 만 보정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scale + offset 동시 보정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업데이트 조건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매 프레임 독립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n ≥ threshold 일 때만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25. Refinement 효과 — Unseen Domain 에서 결정적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MDE only vs MDE + Refinement (TIE 논문 Table II, δ₁ 기준)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11338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Dataset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환경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MDE only δ₁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MDE + Refinement δ₁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향상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KITTI (seen)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학습 분포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vKITTI2 (unseen)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synthetic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0.860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0.910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+5.8%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ApolloScape (unseen)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실외 중국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0.797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+900%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DDAD (unseen)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실외 US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0.790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0.843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+6.7%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Outdoor ≤15m (자체)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근거리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+65%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2120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핵심 관찰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Seen 환경: refinement 효과 작음 (이미 학습으로 잘 맞춤)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Unseen 환경: refinement 가 생존 전략 — ApolloScape 에서 10배 향상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→ stereo 는 '학습 없이도 동작하는 물리적 레퍼런스' 역할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→ 실무에서 unseen 도메인 대응이 핵심인 로봇/UAV 에 필수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장애물 회피 알고리즘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CDDEE"/>
                </a:solidFill>
              </a:rPr>
              <a:t>Behavior Arbitration + Target-point Navigation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27. Steering / Thrust 명령 생성 (TIE eq. 4-6)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33333"/>
                </a:solidFill>
              </a:rPr>
              <a:t>철학: 복잡한 mapping / VIO / trajectory optimization 없이 refined depth 만으로 명령 생성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각 장애물이 밀어내는 '힘(potential)' 합성 → 방향 결정 (Althaus &amp; Christensen 2002)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36C09"/>
                </a:solidFill>
              </a:rPr>
              <a:t>Exponential depth (가까울수록 큰 가중치)</a:t>
            </a:r>
          </a:p>
          <a:p>
            <a:r>
              <a:rPr sz="1200" b="0">
                <a:solidFill>
                  <a:srgbClr val="333333"/>
                </a:solidFill>
                <a:latin typeface="Courier New"/>
              </a:rPr>
              <a:t>   D_g = exp(d_c − d_g) · N_g · S_n / (H · W)</a:t>
            </a:r>
          </a:p>
          <a:p>
            <a:r>
              <a:rPr sz="1000" b="0">
                <a:solidFill>
                  <a:srgbClr val="595959"/>
                </a:solidFill>
              </a:rPr>
              <a:t>      d_c : user-defined 기준 거리</a:t>
            </a:r>
          </a:p>
          <a:p>
            <a:r>
              <a:rPr sz="1000" b="0">
                <a:solidFill>
                  <a:srgbClr val="595959"/>
                </a:solidFill>
              </a:rPr>
              <a:t>      N_g : 그룹 픽셀 수 (큰 장애물 = 큰 가중)</a:t>
            </a:r>
          </a:p>
          <a:p>
            <a:r>
              <a:rPr sz="1000" b="0">
                <a:solidFill>
                  <a:srgbClr val="595959"/>
                </a:solidFill>
              </a:rPr>
              <a:t>      S_n : 전체 superpixel 개수 (정규화)</a:t>
            </a:r>
          </a:p>
          <a:p>
            <a:r>
              <a:t> </a:t>
            </a:r>
          </a:p>
          <a:p>
            <a:r>
              <a:rPr sz="1300" b="1">
                <a:solidFill>
                  <a:srgbClr val="E36C09"/>
                </a:solidFill>
              </a:rPr>
              <a:t>Horizontal / Vertical 집계 (이미지 중심 강조)</a:t>
            </a:r>
          </a:p>
          <a:p>
            <a:r>
              <a:rPr sz="1200" b="0">
                <a:solidFill>
                  <a:srgbClr val="333333"/>
                </a:solidFill>
                <a:latin typeface="Courier New"/>
              </a:rPr>
              <a:t>   φ_f^h = Σ D_g · exp(-(u_g / HFOV)²)</a:t>
            </a:r>
          </a:p>
          <a:p>
            <a:r>
              <a:rPr sz="1200" b="0">
                <a:solidFill>
                  <a:srgbClr val="333333"/>
                </a:solidFill>
                <a:latin typeface="Courier New"/>
              </a:rPr>
              <a:t>   φ_f^v = Σ D_g · exp(-(v_g / VFOV)²)</a:t>
            </a:r>
          </a:p>
          <a:p>
            <a:r>
              <a:t> </a:t>
            </a:r>
          </a:p>
          <a:p>
            <a:r>
              <a:rPr sz="1300" b="1">
                <a:solidFill>
                  <a:srgbClr val="E36C09"/>
                </a:solidFill>
              </a:rPr>
              <a:t>Smoothing (명령 폭주 방지)</a:t>
            </a:r>
          </a:p>
          <a:p>
            <a:r>
              <a:rPr sz="1200" b="0">
                <a:solidFill>
                  <a:srgbClr val="333333"/>
                </a:solidFill>
                <a:latin typeface="Courier New"/>
              </a:rPr>
              <a:t>   δ_h = φ_f^h · exp(-(φ_f^h / G_a)²)       ← steering</a:t>
            </a:r>
          </a:p>
          <a:p>
            <a:r>
              <a:rPr sz="1200" b="0">
                <a:solidFill>
                  <a:srgbClr val="333333"/>
                </a:solidFill>
                <a:latin typeface="Courier New"/>
              </a:rPr>
              <a:t>   δ_v = φ_f^v · exp(-(φ_f^v / G_a)²)       ← altitude rate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28. Algorithm 1 — Target-point Navigation (TIE 논문)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36C09"/>
                </a:solidFill>
                <a:latin typeface="Calibri"/>
              </a:rPr>
              <a:t>목적: 회피 + 목표점 주행을 동시에 수행하는 자율 비행</a:t>
            </a:r>
          </a:p>
          <a:p>
            <a:r>
              <a:t> </a:t>
            </a:r>
          </a:p>
          <a:p>
            <a:r>
              <a:rPr sz="1100" b="1">
                <a:solidFill>
                  <a:srgbClr val="1F4E79"/>
                </a:solidFill>
                <a:latin typeface="Calibri"/>
              </a:rPr>
              <a:t>function get_steering_and_collision_prob(superpixels):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δ_h, δ_v = eq.(6)  # smoothed 회피 명령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δ_coll = (φ_f^h + φ_f^v) / S_n  # 전체 장면 위험도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p_coll = δ_coll · exp((δ_coll · G_c)²)  # 충돌 확률 ∈ [0,1]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return δ_h, δ_v, p_coll</a:t>
            </a:r>
          </a:p>
          <a:p>
            <a:r>
              <a:t> </a:t>
            </a:r>
          </a:p>
          <a:p>
            <a:r>
              <a:rPr sz="1100" b="1">
                <a:solidFill>
                  <a:srgbClr val="1F4E79"/>
                </a:solidFill>
                <a:latin typeface="Calibri"/>
              </a:rPr>
              <a:t>function command_for_desired_location(δ_hl, δ_hr, p_coll_l, p_coll_r, P_goal, P_cur):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p_coll_t = 0.3 · mean(p_coll_l, p_coll_r) + 0.7 · p_coll_t_prev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v_d = V_max · (1 − p_coll_t)  # 충돌 위험 ↑ → 속도 ↓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if distance(P_cur, P_goal) &gt; threshold: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    δ_g = desired_heading(P_cur, P_goal)  # 목표점 방향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    δ_t = δ_hr − δ_hl  # 좌/우 회피 차이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    w, tc = get_weight(δ_t)  # 회피/목표 블렌딩 비율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    w_time = exp(-0.05·(t_now - tc)) · w  # 시간 감쇠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    δ_blend = w_time · δ_t + (1 − w_time) · δ_g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    ψ_t = 0.7 · ψ_t_prev + 0.3 · δ_blend  # heading low-pass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return ψ_t, v_d</a:t>
            </a:r>
          </a:p>
          <a:p>
            <a:r>
              <a:t> </a:t>
            </a:r>
          </a:p>
          <a:p>
            <a:r>
              <a:rPr sz="1100" b="1">
                <a:solidFill>
                  <a:srgbClr val="1F4E79"/>
                </a:solidFill>
                <a:latin typeface="Calibri"/>
              </a:rPr>
              <a:t>function get_weight(δ_t):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if |δ_t| &lt; 10°:  return w=0.5, tc: no update  # 작은 장애물 → 반반</a:t>
            </a:r>
          </a:p>
          <a:p>
            <a:r>
              <a:rPr sz="1000" b="0">
                <a:solidFill>
                  <a:srgbClr val="333333"/>
                </a:solidFill>
                <a:latin typeface="Courier New"/>
              </a:rPr>
              <a:t>    else: return w = min(|δ_t|/20, 1), tc = t_now  # 큰 장애물 → 회피 우선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본 프로젝트 실험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CDDEE"/>
                </a:solidFill>
              </a:rPr>
              <a:t>KITTI · NYU 학습 및 정량/정성 평가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30. KITTI 학습 결과 (7 Epochs, RTX 5070)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33333"/>
                </a:solidFill>
              </a:rPr>
              <a:t>학습 설정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batch=8, AdamW lr=1e-4, cosine schedule, SI loss (α=10, λ=0.85)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총 44,008 train / 1,734 val / 652 test (Eigen split)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37744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Epoch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Train Loss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Val Loss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LR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1.176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0.787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9.5e-5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0.746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0.648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8.1e-5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0.583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6.1e-5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0.534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0.497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3.9e-5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0.476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0.450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1.9e-5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0.437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0.427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5e-6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0.417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0.413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237744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관찰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Loss 꾸준히 감소 (1.18 → 0.42) — underfitting 없음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Train/Val gap 거의 없음 — overfitting 없음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Cosine scheduler 정상 동작 (lr 0 까지 감소)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</a:t>
            </a:r>
          </a:p>
          <a:p>
            <a:pPr/>
            <a:r>
              <a:rPr sz="1300" b="1">
                <a:solidFill>
                  <a:srgbClr val="333333"/>
                </a:solidFill>
              </a:rPr>
              <a:t>속도 (RTX 5070)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2.17 iter/s, epoch 당 42.5 분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25 epoch 완주 시 약 18 h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7 epoch → 5 h (효율적 분석 가능)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31. KITTI Test Set 평가 — 논문 대비 경쟁력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메트릭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본 프로젝트 (7ep)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TIE 논문 (25ep)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해석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δ₁ (&lt; 1.25)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0.9589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0.959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95.9% 픽셀 정확 범위 — 논문 수준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δ₂ (&lt; 1.25²)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0.9940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99.4%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δ₃ (&lt; 1.25³)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0.9986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99.9%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AbsRel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0.0614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0.065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상대 오차 6.1% — 논문 약간 상회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3.01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2.44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평균 3m 오차 (25ep 시 개선 여지)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KITTI Eigen split 리더보드 포지션 (δ₁ 기준)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389120"/>
          <a:ext cx="116128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</a:rPr>
                        <a:t>Rank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Method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δ₁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파라미터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SPIdepth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UniK3D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0.990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Metric3Dv2 (ViT-g2)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ViT-g2 (3B+)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Depth Anything V2-L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0.982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335M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NeWCRFs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270M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AdaBins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2021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0.964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78M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Ours (ConvNeXt+LWA)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15M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3333"/>
                          </a:solidFill>
                        </a:rPr>
                        <a:t>-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BTS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2019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0.956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</a:rPr>
                        <a:t>47M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32. NYU 학습 결과 (7 Epochs, RTX 5070)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33333"/>
                </a:solidFill>
              </a:rPr>
              <a:t>학습 설정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batch=8, AdamW lr=1e-4, cosine, max_depth=10m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47,584 train / 654 val (FastDepth 전처리판)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2377440"/>
          <a:ext cx="54864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Epoch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Train Loss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Val Loss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1.449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1.702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0.920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1.654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1.585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0.669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1.578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0.603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1.589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0.555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1.576 ← 최적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0.531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1.597 (overfit 시작)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2377440"/>
            <a:ext cx="5852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관찰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Epoch 6 에서 val loss 최저 (1.576)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Epoch 7 에서 약간 상승 — mild overfitting 시작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Train/Val gap 큼 (실내 장면 다양성 ↑)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</a:t>
            </a:r>
          </a:p>
          <a:p>
            <a:pPr/>
            <a:r>
              <a:rPr sz="1300" b="1">
                <a:solidFill>
                  <a:srgbClr val="333333"/>
                </a:solidFill>
              </a:rPr>
              <a:t>KITTI 대비 차이점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NYU val loss 가 KITTI 보다 훨씬 높음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실내 texture 다양성 &gt;&gt; 실외 도로 반복 패턴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추가 augmentation / 더 많은 epoch 필요할 수 있음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33. NYU Val Set 평가 + Domain Matching 증명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005840"/>
          <a:ext cx="116128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576"/>
                <a:gridCol w="2322576"/>
                <a:gridCol w="2322576"/>
                <a:gridCol w="2322576"/>
                <a:gridCol w="2322576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</a:rPr>
                        <a:t>메트릭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본 프로젝트 (7ep, ep6)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AdaBins (25ep)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BTS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</a:rPr>
                        <a:t>DenseDepth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δ₁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0.8592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0.885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δ₂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0.9750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δ₃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0.9938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AbsRel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0.1203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0.103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0.110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0.123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</a:rPr>
                        <a:t>RMSE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0.4549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9319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실내 이미지 추론 시 Domain Matching 의 중요성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동일한 네트워크 구조, 다른 학습 데이터셋 → 극명한 차이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KITTI-trained (max 80m) 로 실내 이미지 추론: 3.26 ~ 80.0 m (일부 포화, 도로로 오해)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  · NYU-trained   (max 10m) 로 실내 이미지 추론: 1.43 ~ 3.48 m (정확한 실내 스케일)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결론: 네트워크 구조보다 '학습 데이터의 domain 일치' 가 결정적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→ 향후 Phase 3 refinement 가 이 domain gap 을 해소할 것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34. Ubuntu 원격 제어 워크플로우 — 학습 자동화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</a:rPr>
              <a:t>Mac Mini (개발)  ─────  GitHub  ─────  Ubuntu (RTX 5070, 학습)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     ①코드 작성     ②push/pull        ③SSH 명령 + nohup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     ⑥ scp          ──────  weight 파일 복사  ──────  ④학습 진행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                                                        ⑤학습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1430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300" b="1">
                <a:solidFill>
                  <a:srgbClr val="333333"/>
                </a:solidFill>
              </a:rPr>
              <a:t>주요 기법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SSH Key 인증 (ssh-keygen + ssh-copy-id) — 비밀번호 없이 자동화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nohup + '&amp;' — SSH 끊겨도 수 시간 학습 계속 진행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로그 리다이렉트 '&gt; log 2&gt;&amp;1' — stdout/stderr 기록, tail 로 실시간 모니터링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GitHub 경유 코드 동기화 — Mac 에서 push, Ubuntu 에서 pull (버전 추적)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scp — 대용량 weight (100MB+) 파일을 Ubuntu → Mac 복사</a:t>
            </a:r>
          </a:p>
          <a:p>
            <a:pPr/>
            <a:r>
              <a:rPr sz="1300" b="1">
                <a:solidFill>
                  <a:srgbClr val="333333"/>
                </a:solidFill>
              </a:rPr>
              <a:t>이점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Mac Mini 꺼도 학습 계속 (퇴근 후 밤새 학습)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대용량 데이터 (KITTI 175GB, NYU 35GB) 는 Ubuntu 가 직접 다운로드 — Mac 거치지 않음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세션 기반 명령 실행 → Context 낭비 없음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결론 및 향후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661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>
                <a:solidFill>
                  <a:srgbClr val="CCDDEE"/>
                </a:solidFill>
              </a:rPr>
              <a:t>실무 가이드 · 트렌드 · 인사이트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36. 실무 선택 가이드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9728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시나리오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추천 모델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이유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UAV / 모바일 / 임베디드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ConvNeXt+LWA · Depth Anything-S · Monodepth2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15–25M params, 10–50ms inference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실시간 로봇 perception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ConvNeXt+LWA · GLPDepth · BTS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실시간 + 고정확도 균형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KITTI·NYU SOTA 추구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Depth Anything v2-L · NewCRFs · ZoeDepth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정확도 최상위, GPU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Unseen domain (일반화)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Depth Anything v2 · ZoeDepth · MiDaS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다양한 데이터 pretrain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GT 없이 학습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Monodepth2 · SfMLearner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photometric loss 기반 self-sup.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최고 품질, offline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Marigold · Depth Pro · DepthFM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diffusion 기반 sharp edge</a:t>
                      </a:r>
                    </a:p>
                  </a:txBody>
                  <a:tcPr>
                    <a:solidFill>
                      <a:srgbClr val="ECEF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333333"/>
                          </a:solidFill>
                        </a:rPr>
                        <a:t>Rapid prototyping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HuggingFace Depth Anything v2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333333"/>
                          </a:solidFill>
                        </a:rPr>
                        <a:t>one-line pipeline (transformers)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37. 향후 트렌드 (2025+)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 b="1">
                <a:solidFill>
                  <a:srgbClr val="333333"/>
                </a:solidFill>
              </a:rPr>
              <a:t>Foundation → Task-specific fine-tuning 패러다임 정착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DINOv2 / SAM / Depth Anything backbone + 얇은 task head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적은 labeled 데이터로도 도메인 특화 가능</a:t>
            </a:r>
          </a:p>
          <a:p>
            <a:pPr/>
            <a:r>
              <a:rPr sz="1500" b="1">
                <a:solidFill>
                  <a:srgbClr val="333333"/>
                </a:solidFill>
              </a:rPr>
              <a:t>Video / Temporal consistency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Video Depth Anything, Online VDA (2025) 등 long-term consistency 연구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프레임 간 flicker 제거, tracking/SLAM 친화</a:t>
            </a:r>
          </a:p>
          <a:p>
            <a:pPr/>
            <a:r>
              <a:rPr sz="1500" b="1">
                <a:solidFill>
                  <a:srgbClr val="333333"/>
                </a:solidFill>
              </a:rPr>
              <a:t>Metric scale recovery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relative depth foundation + metric scale alignment 방식이 주류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ZoeDepth → UniDepth → Depth Pro (metric zero-shot)</a:t>
            </a:r>
          </a:p>
          <a:p>
            <a:pPr/>
            <a:r>
              <a:rPr sz="1500" b="1">
                <a:solidFill>
                  <a:srgbClr val="333333"/>
                </a:solidFill>
              </a:rPr>
              <a:t>Flow matching &amp; 빠른 diffusion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Marigold-LCM, DepthFM: diffusion 품질 + real-time 속도</a:t>
            </a:r>
          </a:p>
          <a:p>
            <a:pPr/>
            <a:r>
              <a:rPr sz="1500" b="1">
                <a:solidFill>
                  <a:srgbClr val="333333"/>
                </a:solidFill>
              </a:rPr>
              <a:t>센서 융합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sparse LiDAR + RGB = depth completion (계속 연구 중)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event camera + RGB (Dynamic obstacle)</a:t>
            </a:r>
          </a:p>
          <a:p>
            <a:pPr/>
            <a:r>
              <a:rPr sz="1500" b="1">
                <a:solidFill>
                  <a:srgbClr val="333333"/>
                </a:solidFill>
              </a:rPr>
              <a:t>경량화 &amp; on-device</a:t>
            </a:r>
          </a:p>
          <a:p>
            <a:pPr lvl="1"/>
            <a:r>
              <a:rPr sz="1300">
                <a:solidFill>
                  <a:srgbClr val="333333"/>
                </a:solidFill>
              </a:rPr>
              <a:t>MobileViT, EfficientFormer + quantization → smartphone 실시간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38. 주요 인사이트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 b="1">
                <a:solidFill>
                  <a:srgbClr val="333333"/>
                </a:solidFill>
              </a:rPr>
              <a:t>1. 더 크면 더 정확, 하지만 Pareto 최적은 중·경량대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15M (ConvNeXt+LWA) vs 335M (Depth Anything-L) 정확도 차이 &lt; 3%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실제 운용에선 경량 모델이 유리한 경우가 많음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2. Encoder 선택이 절대적으로 중요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Decoder/Head는 정제에 가깝고, feature 품질은 encoder가 결정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Foundation encoder(DINOv2) + 얇은 head = 가장 강력한 조합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3. Zero-shot 일반화가 새 전쟁터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single-dataset SOTA의 시대는 끝, multi-dataset robustness 중심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unseen domain에서 무너지면 서비스 불가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4. Loss는 크게 바뀌지 않음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SILog + gradient matching이 여전히 표준</a:t>
            </a:r>
          </a:p>
          <a:p>
            <a:pPr/>
            <a:r>
              <a:rPr sz="1400" b="1">
                <a:solidFill>
                  <a:srgbClr val="333333"/>
                </a:solidFill>
              </a:rPr>
              <a:t>5. 실시간 UAV/robotics에서는 ConvNeXt+LWA 류 경량 구조 유망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실험에서 7 epoch만에 논문급 정확도 달성 (δ₁=0.959) → 파이프라인 견고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추가 학습·Depth Refinement로 실내 일반화도 가능할 전망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36C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39. 참고 문헌 및 리소스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11556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200" b="1">
                <a:solidFill>
                  <a:srgbClr val="333333"/>
                </a:solidFill>
              </a:rPr>
              <a:t>주요 논문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Eigen et al., Depth Map Prediction from a Single Image, NIPS 2014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Laina et al., FCRN, 3DV 2016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Fu et al., DORN, CVPR 2018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Alhashim &amp; Wonka, DenseDepth, arXiv 2018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Godard et al., Monodepth2, ICCV 2019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Lee et al., BTS, arXiv 2019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Bhat et al., AdaBins, CVPR 2021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Ranftl et al., DPT, ICCV 2021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Kim et al., GLPDepth, arXiv 2022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Yuan et al., NeWCRFs, CVPR 2022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Bhat et al., ZoeDepth, arXiv 2023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Yang et al., Depth Anything v1/v2, CVPR / NeurIPS 2024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Ke et al., Marigold, CVPR 2024 (Oral)</a:t>
            </a:r>
          </a:p>
          <a:p>
            <a:pPr/>
            <a:r>
              <a:rPr sz="1200">
                <a:solidFill>
                  <a:srgbClr val="333333"/>
                </a:solidFill>
              </a:rPr>
              <a:t> </a:t>
            </a:r>
          </a:p>
          <a:p>
            <a:pPr/>
            <a:r>
              <a:rPr sz="1200" b="1">
                <a:solidFill>
                  <a:srgbClr val="333333"/>
                </a:solidFill>
              </a:rPr>
              <a:t>본 프로젝트의 두 논문 (원저자: Hyeongjin Kim)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[Thesis] H. Kim, "Refined Depth Estimation and Safety Navigation with a Binocular Camera", M.S. Thesis, KNU, 2022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[TIE] E. Cho, H. Kim, P. Kim, H. Lee, "Obstacle Avoidance of a UAV Using Fast Monocular Depth Estimation for a Wide Stereo Camera", IEEE TIE 72(2), 2025</a:t>
            </a:r>
          </a:p>
          <a:p>
            <a:pPr/>
            <a:r>
              <a:rPr sz="1200">
                <a:solidFill>
                  <a:srgbClr val="333333"/>
                </a:solidFill>
              </a:rPr>
              <a:t> </a:t>
            </a:r>
          </a:p>
          <a:p>
            <a:pPr/>
            <a:r>
              <a:rPr sz="1200" b="1">
                <a:solidFill>
                  <a:srgbClr val="333333"/>
                </a:solidFill>
              </a:rPr>
              <a:t>코드 &amp; 벤치마크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KITTI Depth Prediction: https://www.cvlibs.net/datasets/kitti/eval_depth.php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Monocular Depth Estimation Toolbox (zhyever): 통합 벤치마크</a:t>
            </a:r>
          </a:p>
          <a:p>
            <a:pPr lvl="1"/>
            <a:r>
              <a:rPr sz="1200">
                <a:solidFill>
                  <a:srgbClr val="333333"/>
                </a:solidFill>
              </a:rPr>
              <a:t>timm (Hugging Face): ConvNeXt v2 등 최신 backbone 라이브러리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